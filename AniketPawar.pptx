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39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9308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2897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7894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74774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8967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3699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342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9987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4220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4279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6387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90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62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freepngimg.com/png/85354-text-question-blog-questions-logo-any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freepngimg.com/png/19305-thank-you-png-clipa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23169" y="100603"/>
            <a:ext cx="880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Usage Insights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623169" y="1314635"/>
            <a:ext cx="880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Usage &amp; Impact on Students and Professionals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410363" y="2524711"/>
            <a:ext cx="3371273" cy="765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</a:t>
            </a:r>
            <a:r>
              <a:rPr lang="en-US" sz="1600" i="1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Aniket </a:t>
            </a:r>
            <a:r>
              <a:rPr lang="en-US" sz="1600" i="1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 — “data” Sheet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12080" cy="48920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data!A1:S289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ID   •   Age   •   Gender   •   Country   •   User Type   •   Education   •   AI Tool   •   AI Purpose   •   Usage Hrs/Day   •   Monthly AI Cost   •   Productivity   •   Satisfaction   •   Time Saved   •   Would Recommend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288 user responses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user across 12 countries, covering students and professionals who use tools like ChatGPT, Gemini, and Copilot.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rows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00200"/>
          <a:ext cx="5577840" cy="243230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Saved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U0001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 hrs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/ 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U0002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Pakistan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 hrs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/ 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U0003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Australia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hrs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/ 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U0004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 hrs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/ 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U0005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 hrs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/ 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035040" y="416052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flat table is the source for every pivot, chart, and dashboard visual that follows.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35040" y="4800600"/>
            <a:ext cx="5577840" cy="1325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4937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Stats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09360" y="52578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Time Saved: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1,615 hrs/wk    </a:t>
            </a: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Satisfaction: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6.13 / 10
</a:t>
            </a: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288    </a:t>
            </a: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Productivity: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5.24 / 10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by AI Tool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leads time saved by a wide margin, far ahead of Copilot and Gemini.</a:t>
            </a:r>
            <a:endParaRPr lang="en-US" sz="1300" dirty="0"/>
          </a:p>
        </p:txBody>
      </p:sp>
      <p:pic>
        <p:nvPicPr>
          <p:cNvPr id="4" name="Image 0" descr="/home/claude/vchart_sales_categ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463040"/>
            <a:ext cx="58521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463040"/>
            <a:ext cx="4480560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011680"/>
          <a:ext cx="3931920" cy="16459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Hrs Saved / Wk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Copilot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Gemini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223760" y="3703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Satisfaction: ChatGPT 6.3 · Copilot 6.3 · Gemini 5.7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ChatGPT’s lead comes from volume (119 users vs 33–39), while Copilot saves the most per user at 6.6 hrs a week.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by Recommendation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288 users split on whether they would recommend their AI tool.</a:t>
            </a:r>
            <a:endParaRPr lang="en-US" sz="1300" dirty="0"/>
          </a:p>
        </p:txBody>
      </p:sp>
      <p:pic>
        <p:nvPicPr>
          <p:cNvPr id="4" name="Image 0" descr="/home/claude/vchart_sales_reg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4480" y="1463040"/>
            <a:ext cx="548640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463040"/>
            <a:ext cx="3840480" cy="44805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45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2011680"/>
          <a:ext cx="3291840" cy="1920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Maybe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 of users would recommend their tool, and recommenders report the best results: 6.7 satisfaction and 6.5 hrs saved a week, vs 5.0 and 4.7 for “No”.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AI Purposes by Time Saved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and Writing are the two strongest purposes, each over 300 hrs saved a week.</a:t>
            </a:r>
            <a:endParaRPr lang="en-US" sz="1300" dirty="0"/>
          </a:p>
        </p:txBody>
      </p:sp>
      <p:pic>
        <p:nvPicPr>
          <p:cNvPr id="4" name="Image 0" descr="/home/claude/vchart_top_subcateg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463040"/>
            <a:ext cx="58521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463040"/>
            <a:ext cx="4480560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011680"/>
          <a:ext cx="3931920" cy="23042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Purpose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Hrs Saved / Wk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Creation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top 5 purposes alone account for roughly 80% of all weekly hours saved.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 vs Pivot Chart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Pivot Table?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Pivot Table summarizes large amounts of raw data into a compact grid. It lets you group, filter, count, and sum rows (e.g. data!A1:S289) by fields like Would Recommend, AI Tool, or Purpose — without writing formulas.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371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Pivot Chart?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Pivot Chart is a visual (bar, pie, column, etc.) built directly on top of a Pivot Table's output. It updates automatically whenever the Pivot Table refreshes, giving a live picture of the same summarized data — like the charts on this dashboard.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 screenshot</a:t>
            </a:r>
            <a:endParaRPr lang="en-US" sz="1400" dirty="0"/>
          </a:p>
        </p:txBody>
      </p:sp>
      <p:pic>
        <p:nvPicPr>
          <p:cNvPr id="10" name="Image 0" descr="/home/claude/vinay_pivot_screen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0160" y="4114800"/>
            <a:ext cx="960120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0332720" cy="4846320"/>
          </a:xfrm>
          <a:prstGeom prst="roundRect">
            <a:avLst>
              <a:gd name="adj" fmla="val 1132"/>
            </a:avLst>
          </a:prstGeom>
          <a:solidFill>
            <a:srgbClr val="F4F6F8"/>
          </a:solidFill>
          <a:ln/>
        </p:spPr>
      </p:sp>
      <p:pic>
        <p:nvPicPr>
          <p:cNvPr id="4" name="Image 0" descr="/home/claude/vinay_dashboard_screen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8720" y="1737360"/>
            <a:ext cx="97840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5720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Usage Dashboard — user counts and totals by Recommendation, built entirely from Pivot Table + Pivot Chart output.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8B846-D47A-483A-B862-E818759F6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029845" y="414155"/>
            <a:ext cx="3810000" cy="285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1C0D17-B17E-433B-8228-312CF054F1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910858" y="2743200"/>
            <a:ext cx="8339802" cy="37160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0B5E80-BE27-4883-8A30-064D676A0739}"/>
              </a:ext>
            </a:extLst>
          </p:cNvPr>
          <p:cNvSpPr txBox="1"/>
          <p:nvPr/>
        </p:nvSpPr>
        <p:spPr>
          <a:xfrm>
            <a:off x="1615809" y="6644374"/>
            <a:ext cx="8929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549</Words>
  <Application>Microsoft Office PowerPoint</Application>
  <PresentationFormat>Widescreen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Abhinav Shirke</cp:lastModifiedBy>
  <cp:revision>5</cp:revision>
  <dcterms:created xsi:type="dcterms:W3CDTF">2026-08-10T06:19:01Z</dcterms:created>
  <dcterms:modified xsi:type="dcterms:W3CDTF">2026-10-07T10:22:27Z</dcterms:modified>
</cp:coreProperties>
</file>